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e92bb20d7f4ccb" /><Relationship Type="http://schemas.openxmlformats.org/officeDocument/2006/relationships/extended-properties" Target="/docProps/app.xml" Id="R913a845d7eb941cd" /><Relationship Type="http://schemas.openxmlformats.org/officeDocument/2006/relationships/officeDocument" Target="/ppt/presentation.xml" Id="R06fccbe38a5340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21d0ab6c3b4cd3"/>
  </p:sldMasterIdLst>
  <p:notesMasterIdLst>
    <p:notesMasterId xmlns:r="http://schemas.openxmlformats.org/officeDocument/2006/relationships" r:id="Rd7dec15f0aa04060"/>
  </p:notesMasterIdLst>
  <p:sldIdLst>
    <p:sldId xmlns:r="http://schemas.openxmlformats.org/officeDocument/2006/relationships" id="256" r:id="R04213884cec14a31"/>
    <p:sldId xmlns:r="http://schemas.openxmlformats.org/officeDocument/2006/relationships" id="257" r:id="R44e39ea7e0f549ca"/>
    <p:sldId xmlns:r="http://schemas.openxmlformats.org/officeDocument/2006/relationships" id="258" r:id="R09187ab31e3941d6"/>
    <p:sldId xmlns:r="http://schemas.openxmlformats.org/officeDocument/2006/relationships" id="259" r:id="R53c9de58a46b4167"/>
    <p:sldId xmlns:r="http://schemas.openxmlformats.org/officeDocument/2006/relationships" id="260" r:id="R346f40d48c914f90"/>
    <p:sldId xmlns:r="http://schemas.openxmlformats.org/officeDocument/2006/relationships" id="261" r:id="R14435ced7a5d49b4"/>
    <p:sldId xmlns:r="http://schemas.openxmlformats.org/officeDocument/2006/relationships" id="262" r:id="R1bcc4ec7a2ae4b27"/>
    <p:sldId xmlns:r="http://schemas.openxmlformats.org/officeDocument/2006/relationships" id="263" r:id="R66bf03b6ee7541ec"/>
    <p:sldId xmlns:r="http://schemas.openxmlformats.org/officeDocument/2006/relationships" id="264" r:id="Rbee08746982c4dc2"/>
    <p:sldId xmlns:r="http://schemas.openxmlformats.org/officeDocument/2006/relationships" id="265" r:id="R662bb84f11814a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c19ab8f6e04f54" /><Relationship Type="http://schemas.openxmlformats.org/officeDocument/2006/relationships/slideMaster" Target="/ppt/slideMasters/slideMaster1.xml" Id="R3021d0ab6c3b4cd3" /><Relationship Type="http://schemas.openxmlformats.org/officeDocument/2006/relationships/notesMaster" Target="/ppt/notesMasters/notesMaster1.xml" Id="Rd7dec15f0aa04060" /><Relationship Type="http://schemas.openxmlformats.org/officeDocument/2006/relationships/presProps" Target="/ppt/presProps.xml" Id="R5c8b92c8f3a54248" /><Relationship Type="http://schemas.openxmlformats.org/officeDocument/2006/relationships/tableStyles" Target="/ppt/tableStyles.xml" Id="R81f951e61e4c4181" /><Relationship Type="http://schemas.openxmlformats.org/officeDocument/2006/relationships/slide" Target="/ppt/slides/slide1.xml" Id="R04213884cec14a31" /><Relationship Type="http://schemas.openxmlformats.org/officeDocument/2006/relationships/slide" Target="/ppt/slides/slide2.xml" Id="R44e39ea7e0f549ca" /><Relationship Type="http://schemas.openxmlformats.org/officeDocument/2006/relationships/slide" Target="/ppt/slides/slide3.xml" Id="R09187ab31e3941d6" /><Relationship Type="http://schemas.openxmlformats.org/officeDocument/2006/relationships/slide" Target="/ppt/slides/slide4.xml" Id="R53c9de58a46b4167" /><Relationship Type="http://schemas.openxmlformats.org/officeDocument/2006/relationships/slide" Target="/ppt/slides/slide5.xml" Id="R346f40d48c914f90" /><Relationship Type="http://schemas.openxmlformats.org/officeDocument/2006/relationships/slide" Target="/ppt/slides/slide6.xml" Id="R14435ced7a5d49b4" /><Relationship Type="http://schemas.openxmlformats.org/officeDocument/2006/relationships/slide" Target="/ppt/slides/slide7.xml" Id="R1bcc4ec7a2ae4b27" /><Relationship Type="http://schemas.openxmlformats.org/officeDocument/2006/relationships/slide" Target="/ppt/slides/slide8.xml" Id="R66bf03b6ee7541ec" /><Relationship Type="http://schemas.openxmlformats.org/officeDocument/2006/relationships/slide" Target="/ppt/slides/slide9.xml" Id="Rbee08746982c4dc2" /><Relationship Type="http://schemas.openxmlformats.org/officeDocument/2006/relationships/slide" Target="/ppt/slides/slide10.xml" Id="R662bb84f11814a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37b231208d46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6fe280dcf6426e" /><Relationship Type="http://schemas.openxmlformats.org/officeDocument/2006/relationships/notesMaster" Target="/ppt/notesMasters/notesMaster1.xml" Id="R9bfe52d0664f48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1e5398f0cf4201" /><Relationship Type="http://schemas.openxmlformats.org/officeDocument/2006/relationships/notesMaster" Target="/ppt/notesMasters/notesMaster1.xml" Id="R6262caf21ee841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d3e582b2634167" /><Relationship Type="http://schemas.openxmlformats.org/officeDocument/2006/relationships/notesMaster" Target="/ppt/notesMasters/notesMaster1.xml" Id="Rf379e6a0c08543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ac2fa8cdac426b" /><Relationship Type="http://schemas.openxmlformats.org/officeDocument/2006/relationships/notesMaster" Target="/ppt/notesMasters/notesMaster1.xml" Id="R57f40db37ddc4a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ddb1cd9bdd4497" /><Relationship Type="http://schemas.openxmlformats.org/officeDocument/2006/relationships/notesMaster" Target="/ppt/notesMasters/notesMaster1.xml" Id="R19bd0400ce994e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73d7706d6c44fe" /><Relationship Type="http://schemas.openxmlformats.org/officeDocument/2006/relationships/notesMaster" Target="/ppt/notesMasters/notesMaster1.xml" Id="Rf4ed12f8c4f440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5a95b744874a62" /><Relationship Type="http://schemas.openxmlformats.org/officeDocument/2006/relationships/notesMaster" Target="/ppt/notesMasters/notesMaster1.xml" Id="R5966d68fabce4c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68ac808d7b457a" /><Relationship Type="http://schemas.openxmlformats.org/officeDocument/2006/relationships/notesMaster" Target="/ppt/notesMasters/notesMaster1.xml" Id="Rfda1bab4288447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7d9b33a995f41ad" /><Relationship Type="http://schemas.openxmlformats.org/officeDocument/2006/relationships/notesMaster" Target="/ppt/notesMasters/notesMaster1.xml" Id="R1516f49d6dbc43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988043d8394697" /><Relationship Type="http://schemas.openxmlformats.org/officeDocument/2006/relationships/notesMaster" Target="/ppt/notesMasters/notesMaster1.xml" Id="R55a091c1949048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team names and roles come from README.md. Screenshot is from the SS folder in the repository. College, department and faculty mentor were not supplied, so they are omitted.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WHO emphasizes timely emergency care: https://www.who.int/health-topics/emergency-care . This slide describes a general problem, not a measured performance claim for NearHelp 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objectives follow ppt_instruction.md and refer to the current prototype or an explicitly future foundation.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app flow is simplified from the user-facing screens shown in the repository SS folder. The screenshots are direct project assets, not mockups.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descriptions are limited to visible project screenshots. SOS control visibility does not establish successful dispatch or responder matching.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Screenshots are from the project SS folder. The repository includes a Google Maps view and an AI agent integration. The screenshot demonstrates a reply; it does not establish clinical accuracy or production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is simplified from README.md and current Android source. Backend API is shown as a foundation; this slide does not claim an end-to-end rescue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comes from repository screenshot files 29917.jpg, screen_test.png and screen_check2.png. These are observations from captured screens, not a formal test report or measured rescue outcome.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WHO, Emergency care, https://www.who.int/health-topics/emergency-care</a:t>
            </a:r>
          </a:p>
          <a:p xmlns:a="http://schemas.openxmlformats.org/drawingml/2006/main">
            <a:r>
              <a:t>[2] Government of India, Emergency Response Support System, https://112.gov.in/</a:t>
            </a:r>
          </a:p>
          <a:p xmlns:a="http://schemas.openxmlformats.org/drawingml/2006/main">
            <a:r>
              <a:t>[3] M. Ringh et al., Mobile-Phone Dispatch of Laypersons for CPR in Out-of-Hospital Cardiac Arrest, New England Journal of Medicine 372 (2015), 2316–2325, https://www.nejm.org/doi/full/10.1056/NEJMoa1406038 . The research direction is the team’s synthesis, not a claim that 112 lacks volunteers: 112 India has a SHOUT volunteer alert feature for women and children.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Future items are drawn from ppt_instruction.md and the broader README vision. This slide separates planned validation and connected rescue features from the demonstrated UI.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b311c96b3742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64658495874993" /><Relationship Type="http://schemas.openxmlformats.org/officeDocument/2006/relationships/slideLayout" Target="/ppt/slideLayouts/slideLayout1.xml" Id="R46cceaea823a46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cceaea823a46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4b47c82984fc7" /><Relationship Type="http://schemas.openxmlformats.org/officeDocument/2006/relationships/image" Target="/ppt/media/image.jpeg" Id="R0358d53a78e9418e" /><Relationship Type="http://schemas.openxmlformats.org/officeDocument/2006/relationships/notesSlide" Target="/ppt/notesSlides/notesSlide1.xml" Id="Rd0452101223d47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3b6d4b02346f2" /><Relationship Type="http://schemas.openxmlformats.org/officeDocument/2006/relationships/notesSlide" Target="/ppt/notesSlides/notesSlide2.xml" Id="Ra7d4ad31baa247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95b517ca5144ed" /><Relationship Type="http://schemas.openxmlformats.org/officeDocument/2006/relationships/notesSlide" Target="/ppt/notesSlides/notesSlide3.xml" Id="Rde15733faa334e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db202d06848ec" /><Relationship Type="http://schemas.openxmlformats.org/officeDocument/2006/relationships/image" Target="/ppt/media/image2.jpeg" Id="R7549d93c61054319" /><Relationship Type="http://schemas.openxmlformats.org/officeDocument/2006/relationships/image" Target="/ppt/media/image.png" Id="Reaee4272dd004bae" /><Relationship Type="http://schemas.openxmlformats.org/officeDocument/2006/relationships/image" Target="/ppt/media/image2.png" Id="R2160910cdf9c406d" /><Relationship Type="http://schemas.openxmlformats.org/officeDocument/2006/relationships/notesSlide" Target="/ppt/notesSlides/notesSlide4.xml" Id="R191e5571e5ce45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4cf483a21407d" /><Relationship Type="http://schemas.openxmlformats.org/officeDocument/2006/relationships/image" Target="/ppt/media/image3.png" Id="Rb4965c1be09049ea" /><Relationship Type="http://schemas.openxmlformats.org/officeDocument/2006/relationships/notesSlide" Target="/ppt/notesSlides/notesSlide5.xml" Id="R5ef1ea812f9742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1d83b78324191" /><Relationship Type="http://schemas.openxmlformats.org/officeDocument/2006/relationships/image" Target="/ppt/media/image4.png" Id="Rd95bed3a1639465c" /><Relationship Type="http://schemas.openxmlformats.org/officeDocument/2006/relationships/image" Target="/ppt/media/image3.jpeg" Id="Rfafb2937bb9c414e" /><Relationship Type="http://schemas.openxmlformats.org/officeDocument/2006/relationships/notesSlide" Target="/ppt/notesSlides/notesSlide6.xml" Id="Rd8941e6de4e74c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3d82bfb3e42a8" /><Relationship Type="http://schemas.openxmlformats.org/officeDocument/2006/relationships/notesSlide" Target="/ppt/notesSlides/notesSlide7.xml" Id="R33be65c32a0c43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0037bba7a4389" /><Relationship Type="http://schemas.openxmlformats.org/officeDocument/2006/relationships/image" Target="/ppt/media/image4.jpeg" Id="Ra80400cddc65414d" /><Relationship Type="http://schemas.openxmlformats.org/officeDocument/2006/relationships/image" Target="/ppt/media/image5.png" Id="R2815e7a87fd54d4a" /><Relationship Type="http://schemas.openxmlformats.org/officeDocument/2006/relationships/image" Target="/ppt/media/image6.png" Id="R7628bb7d50fc4792" /><Relationship Type="http://schemas.openxmlformats.org/officeDocument/2006/relationships/notesSlide" Target="/ppt/notesSlides/notesSlide8.xml" Id="R96620f334a0348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d08da3a9647ce" /><Relationship Type="http://schemas.openxmlformats.org/officeDocument/2006/relationships/notesSlide" Target="/ppt/notesSlides/notesSlide9.xml" Id="R70cb01654b224d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499c2d27c4198" /><Relationship Type="http://schemas.openxmlformats.org/officeDocument/2006/relationships/notesSlide" Target="/ppt/notesSlides/notesSlide10.xml" Id="Ra578e7dceaac44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4333A9-CA72-405E-8B50-78A1B76A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2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00555-88CF-4A2D-A6CE-BB145A00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695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NearHelp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C0A2DE-AB42-4EF8-924B-2A8889B3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647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6665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E8213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E8213A"/>
                </a:solidFill>
                <a:latin typeface="Arial"/>
                <a:ea typeface="Arial"/>
                <a:cs typeface="Arial"/>
              </a:rPr>
              <a:t>AI-powered community emergency response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46A7D-D0A6-475D-BB10-883F68AA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647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D34"/>
                </a:solidFill>
                <a:latin typeface="Arial"/>
                <a:ea typeface="Arial"/>
                <a:cs typeface="Arial"/>
              </a:rPr>
              <a:t>A working Android prototype with location, map and AI assistance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DC705-3550-4AB3-85CD-992C96D5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595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9160AA-CE53-4AB0-B4B4-6BC154E0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657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Aritra  ·  Adil  ·  Dishari  ·  Abhisikta  ·  Plaban  ·  Sayantan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4940EF-1D69-43A9-A7D6-8B49A932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67375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Second academic project presentation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58d53a78e9418e"/>
          <a:stretch xmlns:a="http://schemas.openxmlformats.org/drawingml/2006/main"/>
        </p:blipFill>
        <p:spPr>
          <a:xfrm xmlns:a="http://schemas.openxmlformats.org/drawingml/2006/main">
            <a:off x="8247681" y="647700"/>
            <a:ext cx="2507013" cy="542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4365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5A788A-DA2B-453C-B3A6-D669D762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2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77B01-E38D-4E7C-B08E-685CC338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FB5A00-8A69-4A43-8107-16D40379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88BF5-2B90-4AF6-9736-060D81F5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NearHelp AI  /  Project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D07C8F-1F40-42C1-9D1C-5CE6E57E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070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038C33-5176-4B8A-B50A-0068E185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In the first minutes of an emergency, people need a clear next step and usable location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F9C500-15CE-4342-B8EF-379C3454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0"/>
            <a:ext cx="24003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A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Emergency occurs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1A4500-508B-41F0-A766-BB5E6D32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2381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A person needs help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AA1041-170A-4D91-88FA-DB8B06CE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809875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E8213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E8213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6371E0-1FE2-466A-9E28-84C1F9EE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67000"/>
            <a:ext cx="24003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A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Uncertainty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467032-9510-4B14-A38E-DB6B0DB9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81400"/>
            <a:ext cx="2381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A bystander may not know what to 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3C3981-7562-40B5-A349-24220D96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809875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E8213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E8213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804B29-B2B1-48C1-ADB4-4B049229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24003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A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Response delay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4CAC4E-F64D-4A50-9563-4F9F1F29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81400"/>
            <a:ext cx="2381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Professional help may take 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2ED90C-A3A5-433F-816D-63759CDE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09875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E8213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E8213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6ED42C-7D97-45E6-A9B5-309E0651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67000"/>
            <a:ext cx="24003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14288">
            <a:solidFill>
              <a:srgbClr val="F5A5AE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82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8213A"/>
                </a:solidFill>
                <a:latin typeface="Arial"/>
                <a:ea typeface="Arial"/>
                <a:cs typeface="Arial"/>
              </a:rPr>
              <a:t>Opportunity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32B0CF-EA35-4BA9-9DD2-FD3866AF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81400"/>
            <a:ext cx="2381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Offer immediate digital guidance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78A1AA-6257-408B-8F21-79FBE876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D34"/>
                </a:solidFill>
                <a:latin typeface="Arial"/>
                <a:ea typeface="Arial"/>
                <a:cs typeface="Arial"/>
              </a:rPr>
              <a:t>NearHelp AI explores a mobile starting point for faster, more informed action.</a:t>
            </a:r>
          </a:p>
        </p:txBody>
      </p:sp>
    </p:spTree>
    <p:extLst>
      <p:ext uri="{BB962C8B-B14F-4D97-AF65-F5344CB8AC3E}">
        <p14:creationId xmlns:p14="http://schemas.microsoft.com/office/powerpoint/2010/main" val="16080080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DC9B4A-B4CF-4357-B3BE-237E7041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2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FCAA67-80BA-4EB3-B4F8-D3F72A80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Project 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9C4D6-0BA1-4DE3-82B4-153D7D9F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A77C5-479B-4B5B-A338-CB364C53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NearHelp AI  /  Project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7AB01E-68BB-43A2-B386-A1695BC6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070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3A55F-FA90-47A2-9132-6577DADE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6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821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E8213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6F81BD-1A88-4A58-B281-F6063ED1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466850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Fast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F1DCF2-F272-4E7A-B729-030186D6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85900"/>
            <a:ext cx="604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Make emergency actions easy to find.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7318EA-B42F-4F2A-A148-B02DFBB8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66950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F4D700-5D4B-4536-AAC0-51D1848B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76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821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E8213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5EC0FB-772E-45F9-A711-DB419C7F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628900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Location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E2A290-7DF5-475C-A4DE-4B872DC0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47950"/>
            <a:ext cx="604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Show the user’s position and map.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CA993E-2447-4547-B358-AC1C3EB5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429000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3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CE88F9-A7B4-49EB-856E-9047B56A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76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821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E8213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912227-0877-4977-BF35-0D7B1C8E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790950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AI interaction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75C78B-0193-4E87-B51B-15FE06BD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10000"/>
            <a:ext cx="604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Let users ask emergency-related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BE8D1E-DA06-475A-9F1C-A469ACDE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591050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3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E6D3F0-B24B-48E9-B2DA-C6EA491E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76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821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E8213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73C25D-C17B-4B42-9B37-6E508DD2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953000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Extensible base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4D6C66-5025-4E3C-8E79-4EF9B32D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72050"/>
            <a:ext cx="604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Prepare for future community coordination.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E646F2-C8BA-467F-9E77-A1BB4637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753100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3E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268736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2F7445-F1BA-4808-8728-F0A2C0DD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2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E5B810-713A-4B2C-9C2F-50EC3227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App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9B3F0-ED7D-4EA0-A42A-8A0EAB4A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91813F-592B-4FED-80CA-96FC0D1F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NearHelp AI  /  Project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8822B-5971-4331-AEB4-BF1CD317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070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EDE87-A377-47AF-873F-77D1246B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54305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A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Open 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C70771-F495-433F-9783-CAE8AE5E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552575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E8213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E8213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EC36A-7432-4A2A-9823-AC13A0CE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476375"/>
            <a:ext cx="154305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A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Choose help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CEEB22-942B-4939-AE55-A6FD9333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52575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E8213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E8213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620849-01BD-44B1-B1E5-FFBD055F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76375"/>
            <a:ext cx="154305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A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Use location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70E50B-803E-403C-963F-BBE3A48D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552575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E8213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E8213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CB9199-F945-411E-82E9-9B8E966B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76375"/>
            <a:ext cx="154305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A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View map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29EF22-9755-4081-B9FE-00908F49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552575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E8213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E8213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D90BA5-4323-4A4E-90EB-1497F827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76375"/>
            <a:ext cx="154305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A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Ask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074E78-DC6B-401E-A019-A7D52602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552575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E8213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E8213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D9641E-EBC4-4FE5-8D14-826A1C1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476375"/>
            <a:ext cx="154305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14288">
            <a:solidFill>
              <a:srgbClr val="F5A5AE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821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8213A"/>
                </a:solidFill>
                <a:latin typeface="Arial"/>
                <a:ea typeface="Arial"/>
                <a:cs typeface="Arial"/>
              </a:rPr>
              <a:t>Take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F26B77-B737-4939-A956-78DE288D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571750"/>
            <a:ext cx="857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Working screens in the current prototype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49d93c61054319"/>
          <a:stretch xmlns:a="http://schemas.openxmlformats.org/drawingml/2006/main"/>
        </p:blipFill>
        <p:spPr>
          <a:xfrm xmlns:a="http://schemas.openxmlformats.org/drawingml/2006/main">
            <a:off x="1524426" y="3048000"/>
            <a:ext cx="1275498" cy="2762250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ee4272dd004bae"/>
          <a:stretch xmlns:a="http://schemas.openxmlformats.org/drawingml/2006/main"/>
        </p:blipFill>
        <p:spPr>
          <a:xfrm xmlns:a="http://schemas.openxmlformats.org/drawingml/2006/main">
            <a:off x="5363001" y="3048000"/>
            <a:ext cx="1275498" cy="2762250"/>
          </a:xfrm>
          <a:prstGeom xmlns:a="http://schemas.openxmlformats.org/drawingml/2006/main" prst="rect">
            <a:avLst/>
          </a:prstGeom>
        </p:spPr>
      </p:pic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60910cdf9c406d"/>
          <a:stretch xmlns:a="http://schemas.openxmlformats.org/drawingml/2006/main"/>
        </p:blipFill>
        <p:spPr>
          <a:xfrm xmlns:a="http://schemas.openxmlformats.org/drawingml/2006/main">
            <a:off x="9192051" y="3048000"/>
            <a:ext cx="1275498" cy="27622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08FDAE-BFFA-4DA2-9BEB-EEA26C6C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8578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Home + SOS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FE57BF-7445-4A15-B8B3-181E41AA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578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Protocols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5A3A32-5FDA-4382-A4A8-F4E196C6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58578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AI guidance</a:t>
            </a:r>
          </a:p>
        </p:txBody>
      </p:sp>
    </p:spTree>
    <p:extLst>
      <p:ext uri="{BB962C8B-B14F-4D97-AF65-F5344CB8AC3E}">
        <p14:creationId xmlns:p14="http://schemas.microsoft.com/office/powerpoint/2010/main" val="4295092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6ACF70-E653-4A74-8B27-EEA3720E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2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B439E-8704-4990-867D-61169332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Core features in the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C8C96E-CFB0-4FD0-ACB6-DC54DB6A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0E763-CC03-47D1-9DF3-A58376B8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NearHelp AI  /  Project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9C0BEB-0D8B-4978-8E66-EC87AD79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070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D4C2D-78BD-4EE1-A3C8-BFFA1C2C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66875"/>
            <a:ext cx="7620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9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E0B598-A5EC-41DE-B11F-F738274F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Emergency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DA0C16-658B-438D-A93B-B2E0EC44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5286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Home screen exposes a prominent SOS control.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780C58-C357-4FDE-8560-714911D4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7620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9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E3AA69-606C-49C9-9E91-CADFA9F2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Location + 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8C4C4C-DAC8-42D4-9939-5EA2F7E0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57575"/>
            <a:ext cx="5286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The app displays live GPS context on a map.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29042E-2AC8-4985-BDC2-389A33A8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29125"/>
            <a:ext cx="7620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2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2B6E87-B0BA-4934-AD74-6E08B580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Guidance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B93341-46A2-488E-B106-3765855E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5286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The chat and protocol screens offer next-step information.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965c1be09049ea"/>
          <a:stretch xmlns:a="http://schemas.openxmlformats.org/drawingml/2006/main"/>
        </p:blipFill>
        <p:spPr>
          <a:xfrm xmlns:a="http://schemas.openxmlformats.org/drawingml/2006/main">
            <a:off x="8133855" y="1352550"/>
            <a:ext cx="2058390" cy="4457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0421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83DD36-2B2A-42AE-AE66-DDD801C0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2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802777-2547-43A3-9418-6635AF0E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AI and maps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C72C8-5E1A-4792-9F02-4D9E2128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14193-7DF9-43B0-B45E-6B0B5F22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NearHelp AI  /  Project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02974-2FAE-42FB-9D0E-352DBADE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0708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5883E7-6DAB-44C8-854C-021B8675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714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821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8213A"/>
                </a:solidFill>
                <a:latin typeface="Arial"/>
                <a:ea typeface="Arial"/>
                <a:cs typeface="Arial"/>
              </a:rPr>
              <a:t>Gemini-assisted chat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3F9D6E-47E1-4A82-BF20-0AFD1CF4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4762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Question  →  App  →  AI reply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A9183D-C178-4434-8AA8-80D08715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476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The current screen shows an emergency question and a response.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5bed3a1639465c"/>
          <a:srcRect xmlns:a="http://schemas.openxmlformats.org/drawingml/2006/main" l="0" t="30656" r="0" b="306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7300" y="3552825"/>
            <a:ext cx="2819400" cy="2362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D78F17-F2FB-4F41-AFC5-7B8256B1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476375"/>
            <a:ext cx="0" cy="447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8F1B9C-568B-468D-99EA-3B0B7D21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428750"/>
            <a:ext cx="4714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821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8213A"/>
                </a:solidFill>
                <a:latin typeface="Arial"/>
                <a:ea typeface="Arial"/>
                <a:cs typeface="Arial"/>
              </a:rPr>
              <a:t>Location map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CAFBD3-9543-43D9-8C87-BBB70360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038350"/>
            <a:ext cx="4762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GPS  →  Map  →  Local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A7A3DF-7758-4AC0-AA88-851C0D79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90800"/>
            <a:ext cx="476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The home screen presents a live map and an SOS action.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fb2937bb9c414e"/>
          <a:srcRect xmlns:a="http://schemas.openxmlformats.org/drawingml/2006/main" l="0" t="34095" r="0" b="340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72325" y="3552825"/>
            <a:ext cx="3429000" cy="2362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9311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F4A2C9-573F-4F57-89A6-379F65B3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2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F16E3-5323-4C3D-A8A9-5F3FD493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0E911-F543-4616-BC3D-DFEE1CBF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C2D54-B78F-4553-AC8A-484A76A8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NearHelp AI  /  Project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5CC0B4-9416-4B74-92CE-D3399B52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0708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B32849-03ED-46D4-8BF4-F06674D2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466850"/>
            <a:ext cx="3048000" cy="904875"/>
          </a:xfrm>
          <a:prstGeom xmlns:a="http://schemas.openxmlformats.org/drawingml/2006/main" prst="roundRect">
            <a:avLst>
              <a:gd name="adj" fmla="val 14737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14288">
            <a:solidFill>
              <a:srgbClr val="F5A5AE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Android app</a:t>
            </a:r>
          </a:p>
          <a:p xmlns:a="http://schemas.openxmlformats.org/drawingml/2006/main">
            <a:pPr algn="ctr">
              <a:defRPr sz="20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Kotlin + Compose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6F9F86-9C28-4D55-8C15-9C8D6EA9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81400"/>
            <a:ext cx="2543175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A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Google Maps SDK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8ECE1F-727E-4626-A924-B7471B53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581400"/>
            <a:ext cx="2543175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A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Gemini AI 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BAD04-F6FE-425E-9BC9-DDABDBF9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81400"/>
            <a:ext cx="2543175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A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Backend API foundation</a:t>
            </a:r>
          </a:p>
        </p:txBody>
      </p:sp>
      <p:cxnSp>
        <p:nvCxnSpPr>
          <p:cNvPr id="24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2338388" y="2371725"/>
            <a:ext cx="3767138" cy="1209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</a:ln>
        </p:spPr>
      </p:cxnSp>
      <p:cxnSp>
        <p:nvCxnSpPr>
          <p:cNvPr id="25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6081713" y="2371725"/>
            <a:ext cx="23813" cy="1209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</a:ln>
        </p:spPr>
      </p:cxnSp>
      <p:cxnSp>
        <p:nvCxnSpPr>
          <p:cNvPr id="26" name=""/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105525" y="2371725"/>
            <a:ext cx="3738563" cy="1209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038BFB-9A5E-45A6-8FC0-32401BA5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62500"/>
            <a:ext cx="604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Current app integrations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A35C80-7673-4277-85A0-35F9CDC4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62500"/>
            <a:ext cx="4524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Broader coordination and data services remain an integration path.</a:t>
            </a:r>
          </a:p>
        </p:txBody>
      </p:sp>
    </p:spTree>
    <p:extLst>
      <p:ext uri="{BB962C8B-B14F-4D97-AF65-F5344CB8AC3E}">
        <p14:creationId xmlns:p14="http://schemas.microsoft.com/office/powerpoint/2010/main" val="6208281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E3DD8F-3D29-4FF4-BBB9-AA8F7A9F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2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EA5FCE-18F4-4E7E-818A-60078290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Demo and observed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5513D-D5B6-40AA-AAA9-657FAF62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283475-9D93-449F-8AD2-104B553A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NearHelp AI  /  Project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B2949D-77FC-40BB-BCCB-69ACA983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0708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AEB28-E4AD-4B7F-BC32-29A82621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419225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Captured app screens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0400cddc65414d"/>
          <a:stretch xmlns:a="http://schemas.openxmlformats.org/drawingml/2006/main"/>
        </p:blipFill>
        <p:spPr>
          <a:xfrm xmlns:a="http://schemas.openxmlformats.org/drawingml/2006/main">
            <a:off x="941161" y="2095500"/>
            <a:ext cx="1451429" cy="3143250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15e7a87fd54d4a"/>
          <a:stretch xmlns:a="http://schemas.openxmlformats.org/drawingml/2006/main"/>
        </p:blipFill>
        <p:spPr>
          <a:xfrm xmlns:a="http://schemas.openxmlformats.org/drawingml/2006/main">
            <a:off x="2979511" y="2095500"/>
            <a:ext cx="1451429" cy="3143250"/>
          </a:xfrm>
          <a:prstGeom xmlns:a="http://schemas.openxmlformats.org/drawingml/2006/main" prst="rect">
            <a:avLst/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28bb7d50fc4792"/>
          <a:stretch xmlns:a="http://schemas.openxmlformats.org/drawingml/2006/main"/>
        </p:blipFill>
        <p:spPr>
          <a:xfrm xmlns:a="http://schemas.openxmlformats.org/drawingml/2006/main">
            <a:off x="5017861" y="2095500"/>
            <a:ext cx="1451429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9659B4-6313-4537-9A53-16F0D749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5144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07086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D69842-A541-4CF1-A318-41C46379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144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07086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46684F-0111-49CE-AA5B-97154BC3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92405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1D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ECEA03-9F53-4C6B-AFC9-14C9D717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955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App opens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B90064-5855-4ED3-A350-C072FEBE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9550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Home screen captured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959AEF-49F0-4A01-B14A-D76382DD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867025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9A9ED2-31F0-4968-8AC3-B269E613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622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Map shown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0CA359-D547-483E-AF5E-939C15A6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62275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GPS and map visible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F84D92-BB9A-43BF-81DF-F43DDA64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7338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485704-EC32-46E2-98BC-7BDA3FE0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290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Protocol shown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4C4429-F0A4-437B-A91F-9300FACA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82905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Emergency steps visible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760985-7F6E-4748-A668-C46493B9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600575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914165-4586-40A1-8986-83E5683F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69582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AI reply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4966DE-9012-477E-873E-B5D3C295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695825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Question and response captured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93EEF5-1109-401F-B5A2-E290F029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46735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926BBB-34C2-4F5C-BD7E-D96921D3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657850"/>
            <a:ext cx="10810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Screenshots document interface behavior; field performance remains to be evaluated.</a:t>
            </a:r>
          </a:p>
        </p:txBody>
      </p:sp>
    </p:spTree>
    <p:extLst>
      <p:ext uri="{BB962C8B-B14F-4D97-AF65-F5344CB8AC3E}">
        <p14:creationId xmlns:p14="http://schemas.microsoft.com/office/powerpoint/2010/main" val="6928896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D361D4-B3E1-4143-ACF3-4373C6E1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2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BEDC0-D711-49E4-BD29-8039A0A9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Research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BBA6AC-D640-4070-9FD9-E01E58D8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D51E3-598A-4CB7-AC28-0E91E64C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NearHelp AI  /  Project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EC34F-58BE-450A-A992-9E91F7B0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0708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FBF6D-1CB4-442B-8B2B-8E9A1661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9725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8213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E8213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34FE5F-C19B-4E27-881E-F3E1A83C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76475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Timely care matters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679B5-D4A9-46D4-8F7B-E99448AB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71825"/>
            <a:ext cx="3343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A2FD42-3657-4BB3-888E-865FCB35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9950"/>
            <a:ext cx="33432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WHO calls timely emergency care an essential health service.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F32782-68CA-4F88-AB19-75E7709E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609725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8213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E8213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CEF14D-8C1D-420A-B03A-14DCC5DB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76475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Location is established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CEB838-9EB3-41FB-8CC4-2061E352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71825"/>
            <a:ext cx="3343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FEEA9D-6003-45AF-940C-ED8776A1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409950"/>
            <a:ext cx="33432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India’s 112 system uses location data and a mobile SOS app.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F03B2F-C2D6-4CB2-AD89-D86DFC4D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09725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8213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E8213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9BB23D-5BDA-4A5E-A956-F6FE770A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76475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Nearby help has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44B0D3-A9C7-4D06-9778-A1ADB46F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71825"/>
            <a:ext cx="3343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9282E-E1EB-48CF-9E01-56E33AFF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09950"/>
            <a:ext cx="33432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A trial found phone alerts increased bystander CPR before EMS arrival.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0D3BDE-C746-43D1-9A89-980E01C8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200650"/>
            <a:ext cx="10839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7B370B-4446-46F4-9490-68308A38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4352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Research direction: combine location context with clear emergency guidance in one app.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F5B48A-2B5D-47BE-8E8B-7A7481E2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626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Sources: WHO emergency care; 112 India; Ringh et al., NEJM (2015)</a:t>
            </a:r>
          </a:p>
        </p:txBody>
      </p:sp>
    </p:spTree>
    <p:extLst>
      <p:ext uri="{BB962C8B-B14F-4D97-AF65-F5344CB8AC3E}">
        <p14:creationId xmlns:p14="http://schemas.microsoft.com/office/powerpoint/2010/main" val="12013108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220BDD-E26F-41D9-8355-8D16756A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2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880A9F-1265-4A5B-A3BF-FD095DDD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Future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C98B22-6ED3-4462-A357-3BC0B6D6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BDC4B4-1868-4570-88DE-B78E7C90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NearHelp AI  /  Project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2B1227-2D7F-4EB1-8DA5-1DCEFFE8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0708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13A9B-1F75-464B-829D-9FFB759A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8590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Next development steps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5AAB6F-149A-4FAF-9EAD-98154D6B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542925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F5"/>
          </a:solidFill>
          <a:ln xmlns:a="http://schemas.openxmlformats.org/drawingml/2006/main" w="19050">
            <a:solidFill>
              <a:srgbClr val="F5A5A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5B568-51AA-43B9-A1CC-822C0288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542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821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8213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80EE51-010A-4670-B7A6-DA1E9052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574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E8213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E8213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554B68-64D6-47ED-A141-617E2134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48025"/>
            <a:ext cx="24288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Validate AI guidance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F81E11-030D-4F48-9487-725990C1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81475"/>
            <a:ext cx="2428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Test retrieval and responses against verified protocols.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92510A-9279-4E7B-85C3-5095994C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400300"/>
            <a:ext cx="542925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F5"/>
          </a:solidFill>
          <a:ln xmlns:a="http://schemas.openxmlformats.org/drawingml/2006/main" w="19050">
            <a:solidFill>
              <a:srgbClr val="F5A5A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5CD051-AB63-4248-BB23-62FC90F8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457450"/>
            <a:ext cx="542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821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8213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98EC6C-0FA8-46CD-8392-A1A3F8BC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4574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E8213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E8213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E1A327-BF61-4526-975A-8CDC93CD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248025"/>
            <a:ext cx="24288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Nearby responder matching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BB3B95-3DB2-4398-9201-5F40819B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181475"/>
            <a:ext cx="2428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Connect appropriate trained helpers to an SOS.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0A0ED7-D1F1-469D-B4B5-07C456E6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00300"/>
            <a:ext cx="542925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F5"/>
          </a:solidFill>
          <a:ln xmlns:a="http://schemas.openxmlformats.org/drawingml/2006/main" w="19050">
            <a:solidFill>
              <a:srgbClr val="F5A5A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E4ACC0-34CC-4C53-A7A7-72E3D317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57450"/>
            <a:ext cx="542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821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8213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9881BC-3D76-4CA8-A8AD-6A46EF74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574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E8213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E8213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5ABD78-29D4-4BC4-99ED-C6533460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48025"/>
            <a:ext cx="24288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Live rescue coordination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DC40D5-C7D4-4A78-A728-93BDEE67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81475"/>
            <a:ext cx="2428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Track accepted responses and handoffs.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26B7F3-17D5-4608-AC7D-5EE367DA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400300"/>
            <a:ext cx="542925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F5"/>
          </a:solidFill>
          <a:ln xmlns:a="http://schemas.openxmlformats.org/drawingml/2006/main" w="19050">
            <a:solidFill>
              <a:srgbClr val="F5A5A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9462E8-0FD0-4DEC-AD37-209B93B7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457450"/>
            <a:ext cx="542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821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8213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0E5305-882C-46EF-9703-3F182971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248025"/>
            <a:ext cx="24288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Multilingual access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4FBA1E-330B-4144-B57F-651C3379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181475"/>
            <a:ext cx="2428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Support Bengali, Hindi and English.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61E8E4-689B-4ABC-B5CD-5A7CF3A4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572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21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8213A"/>
                </a:solidFill>
                <a:latin typeface="Arial"/>
                <a:ea typeface="Arial"/>
                <a:cs typeface="Arial"/>
              </a:rPr>
              <a:t>Current prototype: emergency UI, visible map and AI conversation</a:t>
            </a:r>
          </a:p>
        </p:txBody>
      </p:sp>
    </p:spTree>
    <p:extLst>
      <p:ext uri="{BB962C8B-B14F-4D97-AF65-F5344CB8AC3E}">
        <p14:creationId xmlns:p14="http://schemas.microsoft.com/office/powerpoint/2010/main" val="15423839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2026-09-28T20:42:59.7000000Z</dcterms:created>
  <dcterms:modified xsi:type="dcterms:W3CDTF">2026-09-28T20:42:59.7000000Z</dcterms:modified>
</coreProperties>
</file>