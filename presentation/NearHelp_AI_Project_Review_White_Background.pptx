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7afeac91c64614" /><Relationship Type="http://schemas.openxmlformats.org/officeDocument/2006/relationships/extended-properties" Target="/docProps/app.xml" Id="Re5bd471d9256484e" /><Relationship Type="http://schemas.openxmlformats.org/officeDocument/2006/relationships/officeDocument" Target="/ppt/presentation.xml" Id="R9300ead9d35444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8db54663c247bc"/>
  </p:sldMasterIdLst>
  <p:notesMasterIdLst>
    <p:notesMasterId xmlns:r="http://schemas.openxmlformats.org/officeDocument/2006/relationships" r:id="R9503213a0d5b456f"/>
  </p:notesMasterIdLst>
  <p:sldIdLst>
    <p:sldId xmlns:r="http://schemas.openxmlformats.org/officeDocument/2006/relationships" id="256" r:id="R42c04e39452e4671"/>
    <p:sldId xmlns:r="http://schemas.openxmlformats.org/officeDocument/2006/relationships" id="257" r:id="Rfd8e78f2820043b1"/>
    <p:sldId xmlns:r="http://schemas.openxmlformats.org/officeDocument/2006/relationships" id="258" r:id="Rba6c5db405b84718"/>
    <p:sldId xmlns:r="http://schemas.openxmlformats.org/officeDocument/2006/relationships" id="259" r:id="R99f767026fb64bfa"/>
    <p:sldId xmlns:r="http://schemas.openxmlformats.org/officeDocument/2006/relationships" id="260" r:id="Re76f89e8d4b64914"/>
    <p:sldId xmlns:r="http://schemas.openxmlformats.org/officeDocument/2006/relationships" id="261" r:id="Rce4ead9e42eb487e"/>
    <p:sldId xmlns:r="http://schemas.openxmlformats.org/officeDocument/2006/relationships" id="262" r:id="R7e8d935196a34751"/>
    <p:sldId xmlns:r="http://schemas.openxmlformats.org/officeDocument/2006/relationships" id="263" r:id="R8dcf067ad1f84fa4"/>
    <p:sldId xmlns:r="http://schemas.openxmlformats.org/officeDocument/2006/relationships" id="264" r:id="R8ff4f0b166f64d92"/>
    <p:sldId xmlns:r="http://schemas.openxmlformats.org/officeDocument/2006/relationships" id="265" r:id="R135d8b8e1c0b48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4986b663c94e30" /><Relationship Type="http://schemas.openxmlformats.org/officeDocument/2006/relationships/slideMaster" Target="/ppt/slideMasters/slideMaster1.xml" Id="Rcd8db54663c247bc" /><Relationship Type="http://schemas.openxmlformats.org/officeDocument/2006/relationships/notesMaster" Target="/ppt/notesMasters/notesMaster1.xml" Id="R9503213a0d5b456f" /><Relationship Type="http://schemas.openxmlformats.org/officeDocument/2006/relationships/presProps" Target="/ppt/presProps.xml" Id="Rc4fe9236d4e243c2" /><Relationship Type="http://schemas.openxmlformats.org/officeDocument/2006/relationships/tableStyles" Target="/ppt/tableStyles.xml" Id="R6646bcf760a54cda" /><Relationship Type="http://schemas.openxmlformats.org/officeDocument/2006/relationships/slide" Target="/ppt/slides/slide1.xml" Id="R42c04e39452e4671" /><Relationship Type="http://schemas.openxmlformats.org/officeDocument/2006/relationships/slide" Target="/ppt/slides/slide2.xml" Id="Rfd8e78f2820043b1" /><Relationship Type="http://schemas.openxmlformats.org/officeDocument/2006/relationships/slide" Target="/ppt/slides/slide3.xml" Id="Rba6c5db405b84718" /><Relationship Type="http://schemas.openxmlformats.org/officeDocument/2006/relationships/slide" Target="/ppt/slides/slide4.xml" Id="R99f767026fb64bfa" /><Relationship Type="http://schemas.openxmlformats.org/officeDocument/2006/relationships/slide" Target="/ppt/slides/slide5.xml" Id="Re76f89e8d4b64914" /><Relationship Type="http://schemas.openxmlformats.org/officeDocument/2006/relationships/slide" Target="/ppt/slides/slide6.xml" Id="Rce4ead9e42eb487e" /><Relationship Type="http://schemas.openxmlformats.org/officeDocument/2006/relationships/slide" Target="/ppt/slides/slide7.xml" Id="R7e8d935196a34751" /><Relationship Type="http://schemas.openxmlformats.org/officeDocument/2006/relationships/slide" Target="/ppt/slides/slide8.xml" Id="R8dcf067ad1f84fa4" /><Relationship Type="http://schemas.openxmlformats.org/officeDocument/2006/relationships/slide" Target="/ppt/slides/slide9.xml" Id="R8ff4f0b166f64d92" /><Relationship Type="http://schemas.openxmlformats.org/officeDocument/2006/relationships/slide" Target="/ppt/slides/slide10.xml" Id="R135d8b8e1c0b48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e87fcb154246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150df006904272" /><Relationship Type="http://schemas.openxmlformats.org/officeDocument/2006/relationships/notesMaster" Target="/ppt/notesMasters/notesMaster1.xml" Id="Re38959844b2546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2aebccd3fc48c1" /><Relationship Type="http://schemas.openxmlformats.org/officeDocument/2006/relationships/notesMaster" Target="/ppt/notesMasters/notesMaster1.xml" Id="Rc479719352c74b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588802221741eb" /><Relationship Type="http://schemas.openxmlformats.org/officeDocument/2006/relationships/notesMaster" Target="/ppt/notesMasters/notesMaster1.xml" Id="R409bff3d744e47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f70e50e8904e34" /><Relationship Type="http://schemas.openxmlformats.org/officeDocument/2006/relationships/notesMaster" Target="/ppt/notesMasters/notesMaster1.xml" Id="R984f92bbe96a4d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1a1c360e07427a" /><Relationship Type="http://schemas.openxmlformats.org/officeDocument/2006/relationships/notesMaster" Target="/ppt/notesMasters/notesMaster1.xml" Id="Rb1dbf9ee414342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e1bb22d9764516" /><Relationship Type="http://schemas.openxmlformats.org/officeDocument/2006/relationships/notesMaster" Target="/ppt/notesMasters/notesMaster1.xml" Id="R70958b9c0efa430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f48c2978d34d2d" /><Relationship Type="http://schemas.openxmlformats.org/officeDocument/2006/relationships/notesMaster" Target="/ppt/notesMasters/notesMaster1.xml" Id="Rbc0dafa17b754e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fa65102fff4744" /><Relationship Type="http://schemas.openxmlformats.org/officeDocument/2006/relationships/notesMaster" Target="/ppt/notesMasters/notesMaster1.xml" Id="R1c25029851854f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9b1afacc7344f1" /><Relationship Type="http://schemas.openxmlformats.org/officeDocument/2006/relationships/notesMaster" Target="/ppt/notesMasters/notesMaster1.xml" Id="R2c2e7ef679ca4f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4c005251614f97" /><Relationship Type="http://schemas.openxmlformats.org/officeDocument/2006/relationships/notesMaster" Target="/ppt/notesMasters/notesMaster1.xml" Id="R4129936377c44d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team names and roles come from README.md. Screenshot is from the SS folder in the repository. College, department and faculty mentor were not supplied, so they are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 emphasizes the need for timely emergency care: https://www.who.int/health-topics/emergency-care . 112 India provides a location-enabled SOS system, so this slide does not claim location sharing is absent from existing systems: https://112.gov.in/ . The challenges frame the user experience and are not measured outcomes for NearHelp 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three solution elements are visible in screenshots from the repository. Responder connection is future scope, not demonstrated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simplified user workflow. The SOS control, location map and assistant screens are visible in repository screenshots. It does not represent a verified end-to-end dispatch.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Features are supported by project screenshots in SS/. The visible SOS control does not prove an alert was dispatched. The protocol and assistant screen show UI behavior, not clinical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Screenshots are from the project SS folder. The repository includes a Google Maps view and an AI agent integration. The screenshot demonstrates a reply; it does not establish clinical accuracy or production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simplified from README.md and the Android source. FastAPI is in the repository, but this slide does not claim an end-to-end rescue workflow or production database integration.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comes from project screenshots 29917.jpg, screen_test.png and screen_check2.png. The checks summarize what is visible, not formal automated test results or real-world rescue performance.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WHO, Emergency care, https://www.who.int/health-topics/emergency-care</a:t>
            </a:r>
          </a:p>
          <a:p xmlns:a="http://schemas.openxmlformats.org/drawingml/2006/main">
            <a:r>
              <a:t>[2] Government of India, Emergency Response Support System, https://112.gov.in/</a:t>
            </a:r>
          </a:p>
          <a:p xmlns:a="http://schemas.openxmlformats.org/drawingml/2006/main">
            <a:r>
              <a:t>[3] M. Ringh et al., Mobile-Phone Dispatch of Laypersons for CPR in Out-of-Hospital Cardiac Arrest, New England Journal of Medicine 372 (2015), 2316–2325, https://www.nejm.org/doi/full/10.1056/NEJMoa1406038 . The project contribution is a prototype integration and research direction, not a measured improvement over existing systems. 112 India also offers a SHOUT volunteer feature for women and children.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are framed around the evidence available in repository screenshots. Future scope follows ppt_instruction.md. No claim of clinical validation or real-world rescue performance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da66105314f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319f315fd443ea" /><Relationship Type="http://schemas.openxmlformats.org/officeDocument/2006/relationships/slideLayout" Target="/ppt/slideLayouts/slideLayout1.xml" Id="R2ef76759898140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f76759898140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17dadd9164467" /><Relationship Type="http://schemas.openxmlformats.org/officeDocument/2006/relationships/image" Target="/ppt/media/image.jpeg" Id="R8ee395f1256f45cf" /><Relationship Type="http://schemas.openxmlformats.org/officeDocument/2006/relationships/notesSlide" Target="/ppt/notesSlides/notesSlide1.xml" Id="Rb5dea99c8b9345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d96671a664d9c" /><Relationship Type="http://schemas.openxmlformats.org/officeDocument/2006/relationships/notesSlide" Target="/ppt/notesSlides/notesSlide2.xml" Id="R42793ff7a4b04b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55a10cae24a8e" /><Relationship Type="http://schemas.openxmlformats.org/officeDocument/2006/relationships/notesSlide" Target="/ppt/notesSlides/notesSlide3.xml" Id="Rf4faf28f74eb40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2d3ca75f547fa" /><Relationship Type="http://schemas.openxmlformats.org/officeDocument/2006/relationships/notesSlide" Target="/ppt/notesSlides/notesSlide4.xml" Id="R05bf767404e044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1add0dd404ee5" /><Relationship Type="http://schemas.openxmlformats.org/officeDocument/2006/relationships/image" Target="/ppt/media/image.png" Id="R566fa3a48add40a4" /><Relationship Type="http://schemas.openxmlformats.org/officeDocument/2006/relationships/notesSlide" Target="/ppt/notesSlides/notesSlide5.xml" Id="Rb39b16641c7d4f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f365158da484a" /><Relationship Type="http://schemas.openxmlformats.org/officeDocument/2006/relationships/image" Target="/ppt/media/image2.png" Id="R9243ea4c404449bf" /><Relationship Type="http://schemas.openxmlformats.org/officeDocument/2006/relationships/image" Target="/ppt/media/image2.jpeg" Id="Rc2c284ec19cb47f8" /><Relationship Type="http://schemas.openxmlformats.org/officeDocument/2006/relationships/notesSlide" Target="/ppt/notesSlides/notesSlide6.xml" Id="R7f57f474c5534f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9ba82c59e4dde" /><Relationship Type="http://schemas.openxmlformats.org/officeDocument/2006/relationships/notesSlide" Target="/ppt/notesSlides/notesSlide7.xml" Id="R8b6d9c98cfc64d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0fefdde864f1e" /><Relationship Type="http://schemas.openxmlformats.org/officeDocument/2006/relationships/image" Target="/ppt/media/image3.jpeg" Id="R6163dd5fb02142f4" /><Relationship Type="http://schemas.openxmlformats.org/officeDocument/2006/relationships/image" Target="/ppt/media/image3.png" Id="R4e074185dc154be9" /><Relationship Type="http://schemas.openxmlformats.org/officeDocument/2006/relationships/image" Target="/ppt/media/image4.png" Id="R00b88fab4225414a" /><Relationship Type="http://schemas.openxmlformats.org/officeDocument/2006/relationships/notesSlide" Target="/ppt/notesSlides/notesSlide8.xml" Id="Rb0ce1f725f3f44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8826627884d27" /><Relationship Type="http://schemas.openxmlformats.org/officeDocument/2006/relationships/notesSlide" Target="/ppt/notesSlides/notesSlide9.xml" Id="R0ebc1196633e43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a63a39426473a" /><Relationship Type="http://schemas.openxmlformats.org/officeDocument/2006/relationships/notesSlide" Target="/ppt/notesSlides/notesSlide10.xml" Id="Rc81ac80fa1ce45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44DEF-5B46-445F-94E0-32D8C930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040D3-1654-4C42-AE19-95E6482B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58C00-CABE-4227-B287-0E480481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Project Introduction ( Problem Statement)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1413C-1BD1-4E35-B0E4-D724A2BD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"/>
            <a:ext cx="10925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DF882D-6305-4674-9391-698E89E0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NearHelp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EC71D-93B6-46B4-9C4C-989A80E3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657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Community emergency assistance on Android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062BF-D260-47BA-97DC-EAC63C1D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When an emergency occurs, bystanders need quick guidance and clear location context while professional responders are on the way.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521B2-D3B8-47E9-90E0-6154C939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62425"/>
            <a:ext cx="647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current prototype brings an SOS entry point, a location map, emergency protocols and AI chat into one mobile experience.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42B0E-E197-4FF2-9DA6-75FD4FDA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435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96CBA-48F6-43CE-A2FF-478611DF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34025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Team: Aritra, Adil, Dishari, Abhisikta, Plaban and Sayantan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395f1256f45cf"/>
          <a:stretch xmlns:a="http://schemas.openxmlformats.org/drawingml/2006/main"/>
        </p:blipFill>
        <p:spPr>
          <a:xfrm xmlns:a="http://schemas.openxmlformats.org/drawingml/2006/main">
            <a:off x="8434958" y="1371600"/>
            <a:ext cx="2199134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4682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E893DA-A7E6-4DDD-AD10-43A92BEA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B16B0-FD54-4CE6-B082-E4ECDCE8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14391-BA1A-4650-BFE9-DDA7F1AB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Existing Emergency Response Challenges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97BDD-AD18-46AE-A762-C4188C87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61133-8DE9-48D4-9C1B-4E6CA54E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31071-9B81-452F-A1AA-B26C1D7F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40CEA-74DD-4E5E-8252-43AE8652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19225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The critical gap is what a person can do before organized help arrives.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D1BEA-4EED-4DC8-9881-E11D6E99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A338D-91D8-43F3-AB2F-BFEECDDA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Time and distance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0189D-40E8-4FD2-90CF-80221A94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43200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Professional responders may be several minutes away when an incident begins.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D91F0-9A58-4BAD-B37F-07FE6D68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71000-FECD-4F2D-A932-F7D2695A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33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Bystander uncertainty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D4FF3-5891-466E-87C8-0FCC042D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43200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People nearby may be willing to help but may not know a safe first step.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CF3DCC-E72A-49AD-86F9-3AD2608B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41A9B6-B3C2-4410-9846-00BF7386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671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Location friction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D9A17-7A19-4AC1-B180-3897F3F4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Describing an exact location during stress can slow a request for help.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A388B-C804-4834-9B67-E76E4D4C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671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D3120-03C8-440A-A673-D5CF2C66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671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Fragmented tools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D0A4A-3D87-4E6F-ABE1-92732F24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Calling, maps and guidance are often separate interactions for the user.</a:t>
            </a:r>
          </a:p>
        </p:txBody>
      </p:sp>
    </p:spTree>
    <p:extLst>
      <p:ext uri="{BB962C8B-B14F-4D97-AF65-F5344CB8AC3E}">
        <p14:creationId xmlns:p14="http://schemas.microsoft.com/office/powerpoint/2010/main" val="10633738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0776F7-742D-486E-B19E-F8B033DE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FCB65-E600-44F4-A92B-02CC2BB4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65367-3A17-4E6B-AD39-625F42C4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1FA76-92D1-42C5-B784-70AA3197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EA5FA-2D81-4CC4-8060-CB7AB7A6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C6F88-F362-4EBE-B69B-B7653FD1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4CD0C-ADCC-472A-B73E-BEC62064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1057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NearHelp AI places the first emergency actions in a single Android app.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70BC8-AC05-4110-A142-A7F0BA9A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80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3955C1-C1AE-4EC9-B498-1BB50D63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19350"/>
            <a:ext cx="3009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SOS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EE3FC-9E1F-472B-B43B-A7DBAFC3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419350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A prominent control starts the emergency journey.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42276-7D10-49A5-943D-60760C10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162300"/>
            <a:ext cx="954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5BA876-D801-49BF-82DD-60514624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62325"/>
            <a:ext cx="80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CB1D5-F99E-4BD5-8224-6E831D90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362325"/>
            <a:ext cx="3009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Location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66F6C-AF0B-4258-AE37-9A509B07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362325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GPS and the map help users understand where they are.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72FDD-F99F-403E-8B1F-F8BDCEF9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105275"/>
            <a:ext cx="954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4C8F4-5821-4ECC-8C28-792B39A6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80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404A51-B84C-457C-A8E6-224378D1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305300"/>
            <a:ext cx="3009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Immediate guidance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4EEB22-C892-4415-A0C5-05C104E9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305300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Protocol screens and AI chat provide information while help is sought.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DD25D-1F06-4DB3-8980-F2FED68C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5048250"/>
            <a:ext cx="954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0B113-1663-438A-B21F-B77822CF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8275"/>
            <a:ext cx="80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EF9CA-4E6B-462A-8A59-34B33F24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5248275"/>
            <a:ext cx="30099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Community foundation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F8C94E-FBF8-4FB6-AB82-48B85842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248275"/>
            <a:ext cx="638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design can later connect users with verified nearby responders.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014AC2-BA73-4A63-B3BE-A4CAEFDB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5991225"/>
            <a:ext cx="9544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CE3E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6512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71E0F3-078D-4A2A-93F2-AC6C9722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C0CA3-25B9-499D-A217-35F36128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CC981-92CE-48C2-BCA5-395B9643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System Workflow and Methodology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67C0F5-8F8C-4753-8682-26A18008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25042-B74D-409D-AA79-F963EF7E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C1287-86C4-4ACD-B657-444A8599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ACCE19-7F77-4F07-A54F-7D9D186F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81125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The prototype follows a short path from opening the app to choosing an informed next 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7419D-EBEC-4140-9B10-B848FCE4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90775"/>
            <a:ext cx="155257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Open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10673-0770-4F01-BB65-5A473357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BE1D1-C073-44B9-AE39-4CBDAD15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90775"/>
            <a:ext cx="155257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Select help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4F722-DDEE-4506-AEE4-3F1D00EE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47650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97F7F-3BCD-4F06-B6C9-4AEC59C3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90775"/>
            <a:ext cx="155257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Use GPS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CA1D6-EA32-4840-9EE3-8B8DCE4D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47650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4A504-BB8F-447D-B2D2-A43D07D7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90775"/>
            <a:ext cx="155257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View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24AC9-D8F5-459F-A709-96B43FFD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7650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0D276-05A7-48C4-B2C3-8DBD395D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90775"/>
            <a:ext cx="155257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Ask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3B4CDA-172F-46C7-ACF2-A138ADD6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76500"/>
            <a:ext cx="342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93E06-7749-4B52-B94E-0ABEC135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90775"/>
            <a:ext cx="1552575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14288">
            <a:solidFill>
              <a:srgbClr val="F5A5AE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208C2E-7B5F-46CC-87D8-2A408790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7909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5102A-0DC0-4C56-B5D4-9AFC0ED9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790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B2FEC5-8D5D-40AB-B2BC-E9F951B2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200525"/>
            <a:ext cx="4476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User opens the app, chooses a topic or starts an SOS action.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5AC41-CB9D-46F4-9BAD-9520B8A9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CF069E-8DCE-46D8-A54E-B86321E5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90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Processing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45A4BA-5957-4E55-99B0-6721D26B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00525"/>
            <a:ext cx="4476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Device location informs the map; the chat sends a question to the AI service.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8B9E45-AF79-456E-B197-3E1B81DA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57825"/>
            <a:ext cx="10620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Output: the screen presents local context, a protocol step or an AI response for the user to review.</a:t>
            </a:r>
          </a:p>
        </p:txBody>
      </p:sp>
    </p:spTree>
    <p:extLst>
      <p:ext uri="{BB962C8B-B14F-4D97-AF65-F5344CB8AC3E}">
        <p14:creationId xmlns:p14="http://schemas.microsoft.com/office/powerpoint/2010/main" val="8979466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7E1ECF-6322-4867-B8DF-3C1E79D5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95083-9E0E-460F-B9AE-EE8C857C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2F60E-2C8B-41EE-B99E-CB780521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Implemented Features of NearHelp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7BC8B-F531-41A6-B478-8BCF0B37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92CCF-118A-414A-A334-A72FF68C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2588D-A70C-4C7F-B0D0-D8CF6E6F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3714E-9C7A-46DE-BD7D-239280DE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1447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113583-468E-4509-BA00-F08C9201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45732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Emergency entry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E2EC3-E528-4B14-940B-7188D9EB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76425"/>
            <a:ext cx="5743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home screen presents a hold-to-activate SOS control.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BCDB0-1DA6-48EA-8996-3EDF6FD0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4795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3E742-B5B1-433B-BF22-FAA85B8E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908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Location and map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BDD7D-10CB-4022-9AB2-7D42F8EF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009900"/>
            <a:ext cx="5743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app shows the current GPS position and a live map 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78170-76E4-45CD-AC37-71352E0A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81425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9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1ECA7-C21A-4861-907E-F1CCC69B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7242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Emergency protocols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6DF56C-325D-4410-A955-A5B5FF6D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43375"/>
            <a:ext cx="5743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interface displays topic-based steps for common emergencies.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F8D13-8E36-4206-A16D-B47A3C67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14900"/>
            <a:ext cx="666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D92A65-CA69-444B-BC4E-660123EF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577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AI conversation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A8F0D-F1BD-4874-9CBB-3FD72B68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276850"/>
            <a:ext cx="57435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assistant accepts a question and displays a response.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fa3a48add40a4"/>
          <a:stretch xmlns:a="http://schemas.openxmlformats.org/drawingml/2006/main"/>
        </p:blipFill>
        <p:spPr>
          <a:xfrm xmlns:a="http://schemas.openxmlformats.org/drawingml/2006/main">
            <a:off x="8257694" y="1428750"/>
            <a:ext cx="2001212" cy="43338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6DCED-162F-4FC8-BB3C-5140337F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67400"/>
            <a:ext cx="2647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Current Android build</a:t>
            </a:r>
          </a:p>
        </p:txBody>
      </p:sp>
    </p:spTree>
    <p:extLst>
      <p:ext uri="{BB962C8B-B14F-4D97-AF65-F5344CB8AC3E}">
        <p14:creationId xmlns:p14="http://schemas.microsoft.com/office/powerpoint/2010/main" val="1619718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A3225-463E-42B8-ADB6-7D6F993C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1D874-CF76-467D-A49C-00411E9D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D2713-F614-41B3-A9C1-C48ECE5A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AI Chatbot &amp; Google Maps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D3260-025A-405D-AEE3-CCD87448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A9CC8-FA42-472E-872C-99DC0126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E709C2-3B55-4F8B-9BFC-10FC9CF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B7DA8-9C7E-43DE-A825-937B7CE1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Gemini-assisted chat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9D23EF-9095-475A-9F83-F310414C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46672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The user enters an emergency question. The app sends it to the AI service and presents the returned answer.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EBA7C-2298-433E-AA49-C983C17F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captured reply includes a source label. Medical reliability still requires systematic validation.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3ea4c404449bf"/>
          <a:srcRect xmlns:a="http://schemas.openxmlformats.org/drawingml/2006/main" l="0" t="33405" r="0" b="334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04925" y="3876675"/>
            <a:ext cx="2743200" cy="19716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2BB1A-BA25-4E72-ABAF-5CE69697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76375"/>
            <a:ext cx="0" cy="447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D240E-451F-451A-8C15-9C6060EE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28750"/>
            <a:ext cx="471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Location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5164B-E707-4535-AF8E-4E383E06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09775"/>
            <a:ext cx="46672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Device GPS provides position context. Google Maps displays the area around the user.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668C9-7039-40D0-8644-9DFFE1AC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00375"/>
            <a:ext cx="4667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 map supports orientation before an SOS action or a request for guidance.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284ec19cb47f8"/>
          <a:srcRect xmlns:a="http://schemas.openxmlformats.org/drawingml/2006/main" l="0" t="35065" r="0" b="35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72350" y="3876675"/>
            <a:ext cx="3048000" cy="19716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881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762D5-1049-45B7-A329-D601F501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633BCC-50E8-4269-84C8-95B5B477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CA697-8D11-43D1-85B1-8D27E7AF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System Architecture and Technology Stack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573D1-242B-4B2A-BCF2-7CBD1D98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30ABDA-1906-49AC-A2B6-5DDA848F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797A5-42A1-46D8-8A32-E2352475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D195E-A26F-4FEC-9118-CCF470C7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716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The Android client is the user-facing layer. It connects the location map and AI interaction.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CC3B3-3207-4666-A1DA-2FED9EF7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81225"/>
            <a:ext cx="3114675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FF4F5"/>
          </a:solidFill>
          <a:ln xmlns:a="http://schemas.openxmlformats.org/drawingml/2006/main" w="14288">
            <a:solidFill>
              <a:srgbClr val="F5A5AE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952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Android app</a:t>
            </a:r>
          </a:p>
          <a:p xmlns:a="http://schemas.openxmlformats.org/drawingml/2006/main">
            <a:pPr algn="ctr">
              <a:defRPr sz="18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Kotlin + Jetpack Compose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ABAD6-B31C-4980-9412-CA61D2AB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19550"/>
            <a:ext cx="2543175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Google Maps SDK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60E6F-5121-4E98-9252-21EE324B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19550"/>
            <a:ext cx="2543175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Gemini AI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943CA-A5AF-4158-A650-1AFD08E2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019550"/>
            <a:ext cx="2543175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A"/>
            </a:solidFill>
            <a:prstDash val="solid"/>
          </a:ln>
        </p:spPr>
        <p:txBody>
          <a:bodyPr xmlns:a="http://schemas.openxmlformats.org/drawingml/2006/main" lIns="95250" tIns="38100" rIns="952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Backend API foundation</a:t>
            </a:r>
          </a:p>
        </p:txBody>
      </p:sp>
      <p:cxnSp>
        <p:nvCxnSpPr>
          <p:cNvPr id="30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2328863" y="3019425"/>
            <a:ext cx="377190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A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6081713" y="3019425"/>
            <a:ext cx="190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A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100763" y="3019425"/>
            <a:ext cx="373380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47A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001FE4-B768-4308-B619-7E00A781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019675"/>
            <a:ext cx="4810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Implemented app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05AAB-77F8-4616-B058-2DACCF03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438775"/>
            <a:ext cx="4810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Maps and AI are visible in the current demo.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703F9-ECB7-4CE0-AA52-4E7D1A54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9675"/>
            <a:ext cx="4476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Integration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7CDCB-CAC3-4C5F-9F11-3A0D217BC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387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FastAPI and data services support the wider project design; connected rescue flow still needs validation.</a:t>
            </a:r>
          </a:p>
        </p:txBody>
      </p:sp>
    </p:spTree>
    <p:extLst>
      <p:ext uri="{BB962C8B-B14F-4D97-AF65-F5344CB8AC3E}">
        <p14:creationId xmlns:p14="http://schemas.microsoft.com/office/powerpoint/2010/main" val="19624805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2AF342-7922-4620-B69A-00035273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8A892-EB39-4111-A959-3E79A76B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80DA8-3902-49D7-9DF1-CF312BAC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Application Demo, Testing &amp; Current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8FF16-E227-475C-A061-FCE3E498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C0B9D-3511-47F1-853B-F9520630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D1C2B-33D3-4EAB-862E-DAC49C99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01811-C92B-4EF5-9F1B-FF0F9383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62075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Current evidence comes from device screenshots of the working Android interface.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63dd5fb02142f4"/>
          <a:stretch xmlns:a="http://schemas.openxmlformats.org/drawingml/2006/main"/>
        </p:blipFill>
        <p:spPr>
          <a:xfrm xmlns:a="http://schemas.openxmlformats.org/drawingml/2006/main">
            <a:off x="910414" y="2190750"/>
            <a:ext cx="1341472" cy="2905125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74185dc154be9"/>
          <a:stretch xmlns:a="http://schemas.openxmlformats.org/drawingml/2006/main"/>
        </p:blipFill>
        <p:spPr>
          <a:xfrm xmlns:a="http://schemas.openxmlformats.org/drawingml/2006/main">
            <a:off x="2834464" y="2190750"/>
            <a:ext cx="1341472" cy="2905125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88fab4225414a"/>
          <a:stretch xmlns:a="http://schemas.openxmlformats.org/drawingml/2006/main"/>
        </p:blipFill>
        <p:spPr>
          <a:xfrm xmlns:a="http://schemas.openxmlformats.org/drawingml/2006/main">
            <a:off x="4758514" y="2190750"/>
            <a:ext cx="1341472" cy="29051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C838D-B31B-4984-83B6-C4F17773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52625"/>
            <a:ext cx="2476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Demo check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B0872-75E3-4339-8D66-4E8EB443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00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Observed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507D3-8256-46CF-8E7E-FC02CBC2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343150"/>
            <a:ext cx="4676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D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F9733-4B18-4948-B636-410D47C6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438400"/>
            <a:ext cx="2552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Launch + navigation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42A4F-B043-4FBB-A2BB-E286F322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38400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Home and major tabs appear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97BCA-2A93-49B3-9B13-45694D49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095625"/>
            <a:ext cx="4676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3B7AA9-98BC-49A9-BC09-F65E88E0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190875"/>
            <a:ext cx="2552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Location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E1D14-F5AE-46FF-A16E-512CDFF3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9087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GPS area and SOS control shown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3DEA5-9B6F-41E3-8421-5B706643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48100"/>
            <a:ext cx="4676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FA9D1C-7F9E-43AC-A4FA-146C8343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943350"/>
            <a:ext cx="2552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Emergency content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8CA86D-311B-4CCE-8150-B9C82BD9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43350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Protocol topic and steps shown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45F9E6-17CF-4E2E-B828-C0ADF693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600575"/>
            <a:ext cx="4676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41E14-EA12-44CA-91D1-9EA569FF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695825"/>
            <a:ext cx="2552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AI conversation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DBD0C4-EC9B-4928-B4E0-743C2617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95825"/>
            <a:ext cx="1981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Question and response captured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57D47C-80D2-4131-B4B3-64F02A83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353050"/>
            <a:ext cx="4676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3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F87C56-FE15-4507-8EB0-40E2B8BF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These checks confirm visible interface behavior. Dispatch reliability, response time and medical accuracy need separate evaluation.</a:t>
            </a:r>
          </a:p>
        </p:txBody>
      </p:sp>
    </p:spTree>
    <p:extLst>
      <p:ext uri="{BB962C8B-B14F-4D97-AF65-F5344CB8AC3E}">
        <p14:creationId xmlns:p14="http://schemas.microsoft.com/office/powerpoint/2010/main" val="5970994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F711F6-899C-44B2-9973-F41021C6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2B33B-7119-4893-87F8-2EFE77A0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00A1C-78A6-4689-BFAE-00984544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Research Contribution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700AF-8361-483E-AE90-7081581B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F8CD4-A714-45D7-9893-8757E577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ADAFA-FD22-419D-B9A0-68CC1340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7E6C6-6A16-4987-BC06-3E7F3CEE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049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DB4B53-1F2B-4B53-9EC4-FD5316DA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Emergency care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537D3-2388-49CD-950F-9838686E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62275"/>
            <a:ext cx="334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EF12B-402E-4570-AEE3-C643AD56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33432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WHO emphasizes access to quality, timely emergency care. This motivates support during the early response period.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09D85-E469-4625-8E9D-A9865AE4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5049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EA706-6C3A-43B1-8765-6D8F55FE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717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Existing digital 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386EF-3E6C-45B5-9BB6-5601AD76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962275"/>
            <a:ext cx="334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719BC-AB63-4C77-AC82-B81E0D07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09925"/>
            <a:ext cx="33432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India’s 112 system already combines SOS requests with location data. NearHelp studies the user-facing guidance layer.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DF8EA-F5DE-4749-A900-9539F07D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BCD53-40BD-4803-8A52-6EF81698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71700"/>
            <a:ext cx="347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Community response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8E1C7-CE9A-4AC5-8E38-F35E0F83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62275"/>
            <a:ext cx="3343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B3E47-4351-4A66-8CD4-669518D3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9925"/>
            <a:ext cx="334327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A randomized trial found that phone alerts increased CPR started by nearby trained volunteers before EMS arrival.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E35F6-5F94-469A-94CF-351A984B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114925"/>
            <a:ext cx="108394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B92CA0-B612-4574-87F0-6B0D4386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292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Project contribution: a prototype that places map context, emergency content and AI interaction in one mobile journey.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1ED76-4BE3-4A00-B540-FAD6E9D2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Sources: WHO emergency care; 112 India; Ringh et al., NEJM (2015)</a:t>
            </a:r>
          </a:p>
        </p:txBody>
      </p:sp>
    </p:spTree>
    <p:extLst>
      <p:ext uri="{BB962C8B-B14F-4D97-AF65-F5344CB8AC3E}">
        <p14:creationId xmlns:p14="http://schemas.microsoft.com/office/powerpoint/2010/main" val="17543420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B47F0A-12F5-478B-9FA3-35D32B93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B5645-84CF-4370-8EA3-3772E484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1E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9AEAA-ABE2-4460-AB0D-2F6374C4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Limitations, Future Scope &amp;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10728-4D2F-47B9-835F-A0A09C15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1394F-95E4-4031-9D9D-E3F8331C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47A"/>
                </a:solidFill>
                <a:latin typeface="Arial"/>
                <a:ea typeface="Arial"/>
                <a:cs typeface="Arial"/>
              </a:rPr>
              <a:t>NearHelp AI  /  Project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62E20-1913-4920-8A5C-96F56F60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7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3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D908B-59A5-4DE9-9D58-066C84BC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476375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Current limitations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36ECE-5F43-4EAC-BBF3-E7B33AA6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478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The screenshots do not establish successful real-world dispatch or improved response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9E1FF-363B-4B61-B864-442D967C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478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AI answers need systematic checks against verified medical sources before wider 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3CC1A-A1F7-4553-A20B-FA06D9E5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0025"/>
            <a:ext cx="4781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The current demo does not evaluate responder availability or field performance.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F85B0-9834-4AFF-8AFA-A1D04925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457325"/>
            <a:ext cx="0" cy="393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3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636227-F16E-4CF3-9646-2D2EFF4F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47637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1E3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91E36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55E4E-1349-4924-978E-CC6097B1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105025"/>
            <a:ext cx="4552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Validate protocol retrieval and medical safety guardrails.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9DFB2B-D75D-4A3F-BD92-F75931A4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000375"/>
            <a:ext cx="4552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Connect and verify nearby responders, then add live rescue tracking.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9823F1-93DC-4F9C-8935-DFD13767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010025"/>
            <a:ext cx="4552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D34"/>
                </a:solidFill>
                <a:latin typeface="Arial"/>
                <a:ea typeface="Arial"/>
                <a:cs typeface="Arial"/>
              </a:rPr>
              <a:t>Expand access with Bengali, Hindi and English support.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E1D87-AE8D-4558-9192-29359DD9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314950"/>
            <a:ext cx="10839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38940-135B-4FAA-A72D-AEC02F0C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91150"/>
            <a:ext cx="102870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D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D34"/>
                </a:solidFill>
                <a:latin typeface="Arial"/>
                <a:ea typeface="Arial"/>
                <a:cs typeface="Arial"/>
              </a:rPr>
              <a:t>Conclusion: NearHelp AI now demonstrates the mobile foundation for location-aware emergency assistance.</a:t>
            </a:r>
          </a:p>
        </p:txBody>
      </p:sp>
    </p:spTree>
    <p:extLst>
      <p:ext uri="{BB962C8B-B14F-4D97-AF65-F5344CB8AC3E}">
        <p14:creationId xmlns:p14="http://schemas.microsoft.com/office/powerpoint/2010/main" val="6129466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2026-09-28T20:51:41.5490000Z</dcterms:created>
  <dcterms:modified xsi:type="dcterms:W3CDTF">2026-09-28T20:51:41.5490000Z</dcterms:modified>
</coreProperties>
</file>